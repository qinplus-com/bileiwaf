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79" r:id="rId6"/>
    <p:sldId id="28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 type="screen16x9"/>
  <p:notesSz cx="5143500" cy="9144000"/>
  <p:custDataLst>
    <p:tags r:id="rId2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7289"/>
    <a:srgbClr val="C1DAFF"/>
    <a:srgbClr val="35E0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20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50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6FC4-442B-BBF2-A6FE-C81420B1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45CE3-6DD5-C327-F704-64C1F1F3E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62E40-3FB2-0F09-098B-BFCCB763B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4DEFF-FF9E-08A5-7BD0-126387C58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54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974A-376D-6993-2153-F58D2E48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1CE53-831F-66A3-0A89-522737D70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84D01-4BB5-C442-8C7F-8395627F5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F7468-A0AB-CC15-3583-68CB966DC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46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456BB-7398-AD6C-3C4F-5B0F8B6C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C608D-7F73-8898-6043-C33B044C7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3D45D-A82C-9211-8430-783642234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00E39-00B8-E05C-C38B-B2BCC408A3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65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2377440" cy="2377440"/>
          </a:xfrm>
          <a:prstGeom prst="ellipse">
            <a:avLst/>
          </a:prstGeom>
          <a:solidFill>
            <a:srgbClr val="1B3A6B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65099" y="565099"/>
            <a:ext cx="1521562" cy="1521562"/>
          </a:xfrm>
          <a:prstGeom prst="ellipse">
            <a:avLst/>
          </a:prstGeom>
          <a:solidFill>
            <a:srgbClr val="1B3A6B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583680" y="2834640"/>
            <a:ext cx="2286000" cy="2011680"/>
          </a:xfrm>
          <a:prstGeom prst="ellipse">
            <a:avLst/>
          </a:prstGeom>
          <a:solidFill>
            <a:srgbClr val="0E4D4A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995160" y="3196742"/>
            <a:ext cx="1463040" cy="1287475"/>
          </a:xfrm>
          <a:prstGeom prst="ellipse">
            <a:avLst/>
          </a:prstGeom>
          <a:solidFill>
            <a:srgbClr val="0E4D4A">
              <a:alpha val="2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658368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第四届开放原子大赛 · 2026 开源行业解决方案创新赛（赛道一）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170432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壁垒WAF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213969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kern="0" spc="2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BILEI WAF · </a:t>
            </a:r>
            <a:r>
              <a:rPr lang="zh-CN" altLang="en-US" sz="1700" kern="0" spc="2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</a:t>
            </a:r>
            <a:r>
              <a:rPr lang="en-US" altLang="zh-CN" sz="1700" kern="0" spc="2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2615184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 err="1">
                <a:solidFill>
                  <a:srgbClr val="D8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r>
              <a:rPr lang="en-US" sz="1250" dirty="0">
                <a:solidFill>
                  <a:srgbClr val="D8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AI </a:t>
            </a:r>
            <a:r>
              <a:rPr lang="en-US" sz="1250" dirty="0" err="1">
                <a:solidFill>
                  <a:srgbClr val="D8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的双通道检测架构，反代代理架构</a:t>
            </a:r>
            <a:r>
              <a:rPr lang="en-US" sz="1250" dirty="0">
                <a:solidFill>
                  <a:srgbClr val="D8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毫秒级拦截 · 全流量可视化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" y="3200400"/>
            <a:ext cx="1783080" cy="969264"/>
          </a:xfrm>
          <a:prstGeom prst="roundRect">
            <a:avLst>
              <a:gd name="adj" fmla="val 5660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49808" y="3328416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99.903%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49808" y="3749040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综合准确率（auto 模式）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88336" y="3200400"/>
            <a:ext cx="1783080" cy="969264"/>
          </a:xfrm>
          <a:prstGeom prst="roundRect">
            <a:avLst>
              <a:gd name="adj" fmla="val 5660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34056" y="3328416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1,087 条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734056" y="3749040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内置检测规则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3200400"/>
            <a:ext cx="1783080" cy="969264"/>
          </a:xfrm>
          <a:prstGeom prst="roundRect">
            <a:avLst>
              <a:gd name="adj" fmla="val 5660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18304" y="3328416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大类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18304" y="3749040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OWASP 攻击覆盖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56832" y="3200400"/>
            <a:ext cx="1783080" cy="969264"/>
          </a:xfrm>
          <a:prstGeom prst="roundRect">
            <a:avLst>
              <a:gd name="adj" fmla="val 5660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702552" y="3328416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5,759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702552" y="3749040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处理 QPS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4517136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参赛单位：内蒙古勤加软件有限公司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"/>
            <a:ext cx="2377440" cy="2377440"/>
          </a:xfrm>
          <a:prstGeom prst="ellipse">
            <a:avLst/>
          </a:prstGeom>
          <a:solidFill>
            <a:srgbClr val="1B3A6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828739" y="702259"/>
            <a:ext cx="1521562" cy="1521562"/>
          </a:xfrm>
          <a:prstGeom prst="ellipse">
            <a:avLst/>
          </a:prstGeom>
          <a:solidFill>
            <a:srgbClr val="1B3A6B">
              <a:alpha val="2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572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160020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· 架构 · 核心指标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066544"/>
            <a:ext cx="8001000" cy="0"/>
          </a:xfrm>
          <a:prstGeom prst="line">
            <a:avLst/>
          </a:prstGeom>
          <a:noFill/>
          <a:ln w="9525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21396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463040" y="21396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产品官网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216712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633472"/>
            <a:ext cx="8001000" cy="0"/>
          </a:xfrm>
          <a:prstGeom prst="line">
            <a:avLst/>
          </a:prstGeom>
          <a:noFill/>
          <a:ln w="9525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" y="270662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63040" y="27066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攻防演示控制台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31920" y="273405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实时攻击模拟 · 拦截验证 · </a:t>
            </a:r>
            <a:r>
              <a:rPr lang="en-US" sz="11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功能总览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8001000" cy="0"/>
          </a:xfrm>
          <a:prstGeom prst="line">
            <a:avLst/>
          </a:prstGeom>
          <a:noFill/>
          <a:ln w="9525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32735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63040" y="3273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安全监控大屏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31920" y="330098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全球攻击态势 · 实时攻击流 · 趋势分析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767328"/>
            <a:ext cx="8001000" cy="0"/>
          </a:xfrm>
          <a:prstGeom prst="line">
            <a:avLst/>
          </a:prstGeom>
          <a:noFill/>
          <a:ln w="9525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5800" y="3840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6304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检测能力验证报告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31920" y="386791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blazehttp 全量回放 · 三模式对比 · </a:t>
            </a:r>
            <a:r>
              <a:rPr lang="en-US" sz="11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基线对比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334256"/>
            <a:ext cx="8001000" cy="0"/>
          </a:xfrm>
          <a:prstGeom prst="line">
            <a:avLst/>
          </a:prstGeom>
          <a:noFill/>
          <a:ln w="9525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5800" y="44074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63040" y="4407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31920" y="443484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· 大屏 · 日志 · 站点 · 证书 · 规则 · </a:t>
            </a:r>
            <a:r>
              <a:rPr lang="en-US" sz="11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BBEB8FB6-87F4-FC26-9786-0CC5CFD1255F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2419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产品官网 · 品牌形象与核心能力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105227" y="283464"/>
            <a:ext cx="1581573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algn="r"/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5392589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反代代理架构，规则引擎</a:t>
            </a: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AI 双引擎检测，C 语言高性能内核</a:t>
            </a:r>
            <a:endParaRPr lang="en-US" sz="105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D52A81-601A-7EEC-B77D-04FD6539393B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09AE3E-9474-F06A-D504-BDB3363FC9B4}"/>
              </a:ext>
            </a:extLst>
          </p:cNvPr>
          <p:cNvSpPr txBox="1"/>
          <p:nvPr/>
        </p:nvSpPr>
        <p:spPr>
          <a:xfrm>
            <a:off x="6022898" y="988817"/>
            <a:ext cx="2343471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35E0C8"/>
                </a:solidFill>
              </a:rPr>
              <a:t>壁垒</a:t>
            </a:r>
            <a:r>
              <a:rPr lang="en-US" altLang="zh-CN" sz="1000" b="1" dirty="0">
                <a:solidFill>
                  <a:srgbClr val="35E0C8"/>
                </a:solidFill>
              </a:rPr>
              <a:t>WAF </a:t>
            </a:r>
            <a:r>
              <a:rPr lang="en-US" altLang="zh-CN" sz="1000" b="1" dirty="0" err="1">
                <a:solidFill>
                  <a:srgbClr val="35E0C8"/>
                </a:solidFill>
              </a:rPr>
              <a:t>BiLeiWAF</a:t>
            </a:r>
            <a:endParaRPr lang="en-US" altLang="zh-CN" sz="1000" b="1" dirty="0">
              <a:solidFill>
                <a:srgbClr val="35E0C8"/>
              </a:solidFill>
            </a:endParaRPr>
          </a:p>
          <a:p>
            <a:pPr algn="ctr"/>
            <a:endParaRPr lang="en-US" altLang="zh-CN" sz="1000" b="1" dirty="0">
              <a:solidFill>
                <a:schemeClr val="bg1"/>
              </a:solidFill>
            </a:endParaRP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b="1" dirty="0">
                <a:solidFill>
                  <a:schemeClr val="bg1"/>
                </a:solidFill>
              </a:rPr>
              <a:t>· </a:t>
            </a:r>
            <a:r>
              <a:rPr lang="zh-CN" altLang="en-US" sz="800" b="1" dirty="0">
                <a:solidFill>
                  <a:srgbClr val="35E0C8"/>
                </a:solidFill>
              </a:rPr>
              <a:t>规则 </a:t>
            </a:r>
            <a:r>
              <a:rPr lang="en-US" altLang="zh-CN" sz="800" b="1" dirty="0">
                <a:solidFill>
                  <a:srgbClr val="35E0C8"/>
                </a:solidFill>
              </a:rPr>
              <a:t>+ AI </a:t>
            </a:r>
            <a:r>
              <a:rPr lang="zh-CN" altLang="en-US" sz="800" b="1" dirty="0">
                <a:solidFill>
                  <a:srgbClr val="35E0C8"/>
                </a:solidFill>
              </a:rPr>
              <a:t>双通道联级</a:t>
            </a:r>
            <a:endParaRPr lang="en-US" altLang="zh-CN" sz="800" b="1" dirty="0">
              <a:solidFill>
                <a:srgbClr val="35E0C8"/>
              </a:solidFill>
            </a:endParaRPr>
          </a:p>
          <a:p>
            <a:endParaRPr lang="en-US" altLang="zh-CN" sz="600" dirty="0">
              <a:solidFill>
                <a:srgbClr val="C1DAFF"/>
              </a:solidFill>
            </a:endParaRPr>
          </a:p>
          <a:p>
            <a:r>
              <a:rPr lang="en-US" altLang="zh-CN" sz="600" dirty="0">
                <a:solidFill>
                  <a:srgbClr val="637289"/>
                </a:solidFill>
              </a:rPr>
              <a:t>1,087 </a:t>
            </a:r>
            <a:r>
              <a:rPr lang="zh-CN" altLang="en-US" sz="600" dirty="0">
                <a:solidFill>
                  <a:srgbClr val="637289"/>
                </a:solidFill>
              </a:rPr>
              <a:t>条内置规则与 </a:t>
            </a:r>
            <a:r>
              <a:rPr lang="en-US" altLang="zh-CN" sz="600" dirty="0">
                <a:solidFill>
                  <a:srgbClr val="637289"/>
                </a:solidFill>
              </a:rPr>
              <a:t>AI </a:t>
            </a:r>
            <a:r>
              <a:rPr lang="zh-CN" altLang="en-US" sz="600" dirty="0">
                <a:solidFill>
                  <a:srgbClr val="637289"/>
                </a:solidFill>
              </a:rPr>
              <a:t>集成模型（基于规则库蒸馏训练）联级复核，</a:t>
            </a:r>
            <a:r>
              <a:rPr lang="en-US" altLang="zh-CN" sz="600" dirty="0" err="1">
                <a:solidFill>
                  <a:srgbClr val="637289"/>
                </a:solidFill>
              </a:rPr>
              <a:t>blazehttp</a:t>
            </a:r>
            <a:r>
              <a:rPr lang="en-US" altLang="zh-CN" sz="600" dirty="0">
                <a:solidFill>
                  <a:srgbClr val="637289"/>
                </a:solidFill>
              </a:rPr>
              <a:t> </a:t>
            </a:r>
            <a:r>
              <a:rPr lang="zh-CN" altLang="en-US" sz="600" dirty="0">
                <a:solidFill>
                  <a:srgbClr val="637289"/>
                </a:solidFill>
              </a:rPr>
              <a:t>全量回放实测检出率 </a:t>
            </a:r>
            <a:r>
              <a:rPr lang="en-US" altLang="zh-CN" sz="600" dirty="0">
                <a:solidFill>
                  <a:srgbClr val="FF0000"/>
                </a:solidFill>
              </a:rPr>
              <a:t>99.70%</a:t>
            </a:r>
            <a:r>
              <a:rPr lang="zh-CN" altLang="en-US" sz="600" dirty="0">
                <a:solidFill>
                  <a:srgbClr val="637289"/>
                </a:solidFill>
              </a:rPr>
              <a:t>、误报率 </a:t>
            </a:r>
            <a:r>
              <a:rPr lang="en-US" altLang="zh-CN" sz="600" dirty="0">
                <a:solidFill>
                  <a:srgbClr val="FF0000"/>
                </a:solidFill>
              </a:rPr>
              <a:t>0.09%</a:t>
            </a:r>
            <a:r>
              <a:rPr lang="zh-CN" altLang="en-US" sz="600" dirty="0">
                <a:solidFill>
                  <a:srgbClr val="637289"/>
                </a:solidFill>
              </a:rPr>
              <a:t>、综合准确率 </a:t>
            </a:r>
            <a:r>
              <a:rPr lang="en-US" altLang="zh-CN" sz="600" dirty="0">
                <a:solidFill>
                  <a:srgbClr val="FF0000"/>
                </a:solidFill>
              </a:rPr>
              <a:t>99.903%</a:t>
            </a:r>
            <a:r>
              <a:rPr lang="zh-CN" altLang="en-US" sz="600" dirty="0">
                <a:solidFill>
                  <a:srgbClr val="637289"/>
                </a:solidFill>
              </a:rPr>
              <a:t>，吞吐 </a:t>
            </a:r>
            <a:r>
              <a:rPr lang="en-US" altLang="zh-CN" sz="600" dirty="0">
                <a:solidFill>
                  <a:srgbClr val="637289"/>
                </a:solidFill>
              </a:rPr>
              <a:t>5,759 QPS</a:t>
            </a:r>
          </a:p>
          <a:p>
            <a:endParaRPr lang="en-US" altLang="zh-CN" sz="800" dirty="0">
              <a:solidFill>
                <a:srgbClr val="C1DAFF"/>
              </a:solidFill>
            </a:endParaRPr>
          </a:p>
          <a:p>
            <a:r>
              <a:rPr lang="en-US" altLang="zh-CN" sz="800" b="1" dirty="0">
                <a:solidFill>
                  <a:schemeClr val="bg1"/>
                </a:solidFill>
              </a:rPr>
              <a:t>· </a:t>
            </a:r>
            <a:r>
              <a:rPr lang="zh-CN" altLang="en-US" sz="800" b="1" dirty="0">
                <a:solidFill>
                  <a:srgbClr val="35E0C8"/>
                </a:solidFill>
              </a:rPr>
              <a:t>工程化 </a:t>
            </a:r>
            <a:r>
              <a:rPr lang="en-US" altLang="zh-CN" sz="800" b="1" dirty="0">
                <a:solidFill>
                  <a:srgbClr val="35E0C8"/>
                </a:solidFill>
              </a:rPr>
              <a:t>AI</a:t>
            </a:r>
          </a:p>
          <a:p>
            <a:endParaRPr lang="en-US" altLang="zh-CN" sz="600" dirty="0">
              <a:solidFill>
                <a:srgbClr val="C1DAFF"/>
              </a:solidFill>
            </a:endParaRPr>
          </a:p>
          <a:p>
            <a:r>
              <a:rPr lang="zh-CN" altLang="en-US" sz="600" dirty="0">
                <a:solidFill>
                  <a:srgbClr val="637289"/>
                </a:solidFill>
              </a:rPr>
              <a:t>影子模式灰度、</a:t>
            </a:r>
            <a:r>
              <a:rPr lang="en-US" altLang="zh-CN" sz="600" dirty="0">
                <a:solidFill>
                  <a:srgbClr val="637289"/>
                </a:solidFill>
              </a:rPr>
              <a:t>fail-safe </a:t>
            </a:r>
            <a:r>
              <a:rPr lang="zh-CN" altLang="en-US" sz="600" dirty="0">
                <a:solidFill>
                  <a:srgbClr val="637289"/>
                </a:solidFill>
              </a:rPr>
              <a:t>规则兜底、</a:t>
            </a:r>
            <a:r>
              <a:rPr lang="en-US" altLang="zh-CN" sz="600" dirty="0">
                <a:solidFill>
                  <a:srgbClr val="637289"/>
                </a:solidFill>
              </a:rPr>
              <a:t>AILEARN </a:t>
            </a:r>
            <a:r>
              <a:rPr lang="zh-CN" altLang="en-US" sz="600" dirty="0">
                <a:solidFill>
                  <a:srgbClr val="637289"/>
                </a:solidFill>
              </a:rPr>
              <a:t>护栏自主学习（学习产物为可审计规则文本，铸造前经白名单全量评估防误报）</a:t>
            </a:r>
            <a:endParaRPr lang="en-US" altLang="zh-CN" sz="600" dirty="0">
              <a:solidFill>
                <a:srgbClr val="637289"/>
              </a:solidFill>
            </a:endParaRPr>
          </a:p>
          <a:p>
            <a:endParaRPr lang="en-US" altLang="zh-CN" sz="800" dirty="0">
              <a:solidFill>
                <a:srgbClr val="C1DAFF"/>
              </a:solidFill>
            </a:endParaRPr>
          </a:p>
          <a:p>
            <a:r>
              <a:rPr lang="en-US" altLang="zh-CN" sz="800" b="1" dirty="0">
                <a:solidFill>
                  <a:schemeClr val="bg1"/>
                </a:solidFill>
              </a:rPr>
              <a:t>· </a:t>
            </a:r>
            <a:r>
              <a:rPr lang="zh-CN" altLang="en-US" sz="800" b="1" dirty="0">
                <a:solidFill>
                  <a:srgbClr val="35E0C8"/>
                </a:solidFill>
              </a:rPr>
              <a:t>主动防护闭环</a:t>
            </a:r>
            <a:endParaRPr lang="en-US" altLang="zh-CN" sz="800" b="1" dirty="0">
              <a:solidFill>
                <a:srgbClr val="35E0C8"/>
              </a:solidFill>
            </a:endParaRPr>
          </a:p>
          <a:p>
            <a:endParaRPr lang="en-US" altLang="zh-CN" sz="600" dirty="0">
              <a:solidFill>
                <a:srgbClr val="C1DAFF"/>
              </a:solidFill>
            </a:endParaRPr>
          </a:p>
          <a:p>
            <a:r>
              <a:rPr lang="en-US" altLang="zh-CN" sz="600" dirty="0">
                <a:solidFill>
                  <a:srgbClr val="637289"/>
                </a:solidFill>
              </a:rPr>
              <a:t>CC </a:t>
            </a:r>
            <a:r>
              <a:rPr lang="zh-CN" altLang="en-US" sz="600" dirty="0">
                <a:solidFill>
                  <a:srgbClr val="637289"/>
                </a:solidFill>
              </a:rPr>
              <a:t>频率检测 </a:t>
            </a:r>
            <a:r>
              <a:rPr lang="en-US" altLang="zh-CN" sz="600" dirty="0">
                <a:solidFill>
                  <a:srgbClr val="637289"/>
                </a:solidFill>
              </a:rPr>
              <a:t>+ </a:t>
            </a:r>
            <a:r>
              <a:rPr lang="zh-CN" altLang="en-US" sz="600" dirty="0">
                <a:solidFill>
                  <a:srgbClr val="637289"/>
                </a:solidFill>
              </a:rPr>
              <a:t>人机验证 </a:t>
            </a:r>
            <a:r>
              <a:rPr lang="en-US" altLang="zh-CN" sz="600" dirty="0">
                <a:solidFill>
                  <a:srgbClr val="637289"/>
                </a:solidFill>
              </a:rPr>
              <a:t>+ IP </a:t>
            </a:r>
            <a:r>
              <a:rPr lang="zh-CN" altLang="en-US" sz="600" dirty="0">
                <a:solidFill>
                  <a:srgbClr val="637289"/>
                </a:solidFill>
              </a:rPr>
              <a:t>自动黑名单（动态拉黑、到期自动解封），黑白名单白名单优先豁免</a:t>
            </a:r>
            <a:endParaRPr lang="en-US" altLang="zh-CN" sz="600" dirty="0">
              <a:solidFill>
                <a:srgbClr val="637289"/>
              </a:solidFill>
            </a:endParaRPr>
          </a:p>
          <a:p>
            <a:endParaRPr lang="en-US" altLang="zh-CN" sz="800" dirty="0">
              <a:solidFill>
                <a:srgbClr val="C1DAFF"/>
              </a:solidFill>
            </a:endParaRPr>
          </a:p>
          <a:p>
            <a:r>
              <a:rPr lang="en-US" altLang="zh-CN" sz="800" b="1" dirty="0">
                <a:solidFill>
                  <a:schemeClr val="bg1"/>
                </a:solidFill>
              </a:rPr>
              <a:t>· </a:t>
            </a:r>
            <a:r>
              <a:rPr lang="zh-CN" altLang="en-US" sz="800" b="1" dirty="0">
                <a:solidFill>
                  <a:srgbClr val="35E0C8"/>
                </a:solidFill>
              </a:rPr>
              <a:t>全链路可视化</a:t>
            </a:r>
            <a:endParaRPr lang="en-US" altLang="zh-CN" sz="800" b="1" dirty="0">
              <a:solidFill>
                <a:srgbClr val="35E0C8"/>
              </a:solidFill>
            </a:endParaRPr>
          </a:p>
          <a:p>
            <a:endParaRPr lang="en-US" altLang="zh-CN" sz="600" dirty="0">
              <a:solidFill>
                <a:srgbClr val="C1DAFF"/>
              </a:solidFill>
            </a:endParaRPr>
          </a:p>
          <a:p>
            <a:r>
              <a:rPr lang="zh-CN" altLang="en-US" sz="600" dirty="0">
                <a:solidFill>
                  <a:srgbClr val="637289"/>
                </a:solidFill>
              </a:rPr>
              <a:t>实时监控大屏（今日攻击</a:t>
            </a:r>
            <a:r>
              <a:rPr lang="en-US" altLang="zh-CN" sz="600" dirty="0">
                <a:solidFill>
                  <a:srgbClr val="637289"/>
                </a:solidFill>
              </a:rPr>
              <a:t>/</a:t>
            </a:r>
            <a:r>
              <a:rPr lang="zh-CN" altLang="en-US" sz="600" dirty="0">
                <a:solidFill>
                  <a:srgbClr val="637289"/>
                </a:solidFill>
              </a:rPr>
              <a:t>本月拦截</a:t>
            </a:r>
            <a:r>
              <a:rPr lang="en-US" altLang="zh-CN" sz="600" dirty="0">
                <a:solidFill>
                  <a:srgbClr val="637289"/>
                </a:solidFill>
              </a:rPr>
              <a:t>/</a:t>
            </a:r>
            <a:r>
              <a:rPr lang="zh-CN" altLang="en-US" sz="600" dirty="0">
                <a:solidFill>
                  <a:srgbClr val="637289"/>
                </a:solidFill>
              </a:rPr>
              <a:t>实时 </a:t>
            </a:r>
            <a:r>
              <a:rPr lang="en-US" altLang="zh-CN" sz="600" dirty="0">
                <a:solidFill>
                  <a:srgbClr val="637289"/>
                </a:solidFill>
              </a:rPr>
              <a:t>QPS/</a:t>
            </a:r>
            <a:r>
              <a:rPr lang="zh-CN" altLang="en-US" sz="600" dirty="0">
                <a:solidFill>
                  <a:srgbClr val="637289"/>
                </a:solidFill>
              </a:rPr>
              <a:t>全球态势）、攻防演示页一键实测、攻击日志多维检索，日志轮转后统计不断档</a:t>
            </a:r>
            <a:endParaRPr lang="en-US" altLang="zh-CN" sz="600" dirty="0">
              <a:solidFill>
                <a:srgbClr val="637289"/>
              </a:solidFill>
            </a:endParaRPr>
          </a:p>
          <a:p>
            <a:endParaRPr lang="en-US" altLang="zh-CN" sz="800" dirty="0">
              <a:solidFill>
                <a:srgbClr val="C1DAFF"/>
              </a:solidFill>
            </a:endParaRPr>
          </a:p>
          <a:p>
            <a:r>
              <a:rPr lang="en-US" altLang="zh-CN" sz="800" b="1" dirty="0">
                <a:solidFill>
                  <a:schemeClr val="bg1"/>
                </a:solidFill>
              </a:rPr>
              <a:t>· </a:t>
            </a:r>
            <a:r>
              <a:rPr lang="zh-CN" altLang="en-US" sz="800" b="1" dirty="0">
                <a:solidFill>
                  <a:srgbClr val="35E0C8"/>
                </a:solidFill>
              </a:rPr>
              <a:t>低门槛部署</a:t>
            </a:r>
            <a:endParaRPr lang="en-US" altLang="zh-CN" sz="800" b="1" dirty="0">
              <a:solidFill>
                <a:srgbClr val="35E0C8"/>
              </a:solidFill>
            </a:endParaRPr>
          </a:p>
          <a:p>
            <a:endParaRPr lang="en-US" altLang="zh-CN" sz="600" dirty="0">
              <a:solidFill>
                <a:srgbClr val="C1DAFF"/>
              </a:solidFill>
            </a:endParaRPr>
          </a:p>
          <a:p>
            <a:r>
              <a:rPr lang="en-US" altLang="zh-CN" sz="600" dirty="0">
                <a:solidFill>
                  <a:srgbClr val="FF0000"/>
                </a:solidFill>
              </a:rPr>
              <a:t>2 GB </a:t>
            </a:r>
            <a:r>
              <a:rPr lang="zh-CN" altLang="en-US" sz="600" dirty="0">
                <a:solidFill>
                  <a:srgbClr val="637289"/>
                </a:solidFill>
              </a:rPr>
              <a:t>内存低配服务器即可承载，支持 </a:t>
            </a:r>
            <a:r>
              <a:rPr lang="en-US" altLang="zh-CN" sz="600" dirty="0" err="1">
                <a:solidFill>
                  <a:srgbClr val="637289"/>
                </a:solidFill>
              </a:rPr>
              <a:t>systemd</a:t>
            </a:r>
            <a:r>
              <a:rPr lang="en-US" altLang="zh-CN" sz="600" dirty="0">
                <a:solidFill>
                  <a:srgbClr val="637289"/>
                </a:solidFill>
              </a:rPr>
              <a:t> </a:t>
            </a:r>
            <a:r>
              <a:rPr lang="zh-CN" altLang="en-US" sz="600" dirty="0">
                <a:solidFill>
                  <a:srgbClr val="637289"/>
                </a:solidFill>
              </a:rPr>
              <a:t>托管、</a:t>
            </a:r>
            <a:r>
              <a:rPr lang="en-US" altLang="zh-CN" sz="600" dirty="0">
                <a:solidFill>
                  <a:srgbClr val="637289"/>
                </a:solidFill>
              </a:rPr>
              <a:t>RPM/</a:t>
            </a:r>
            <a:r>
              <a:rPr lang="zh-CN" altLang="en-US" sz="600" dirty="0">
                <a:solidFill>
                  <a:srgbClr val="637289"/>
                </a:solidFill>
              </a:rPr>
              <a:t>二进制发行包、</a:t>
            </a:r>
            <a:r>
              <a:rPr lang="en-US" altLang="zh-CN" sz="600" dirty="0">
                <a:solidFill>
                  <a:srgbClr val="637289"/>
                </a:solidFill>
              </a:rPr>
              <a:t>Let‘s Encrypt</a:t>
            </a:r>
            <a:r>
              <a:rPr lang="zh-CN" altLang="en-US" sz="600" dirty="0">
                <a:solidFill>
                  <a:srgbClr val="637289"/>
                </a:solidFill>
              </a:rPr>
              <a:t>自动签发续期，已在 </a:t>
            </a:r>
            <a:r>
              <a:rPr lang="en-US" altLang="zh-CN" sz="600" dirty="0">
                <a:solidFill>
                  <a:srgbClr val="637289"/>
                </a:solidFill>
              </a:rPr>
              <a:t>dbask.cn</a:t>
            </a:r>
            <a:r>
              <a:rPr lang="zh-CN" altLang="en-US" sz="600" dirty="0">
                <a:solidFill>
                  <a:srgbClr val="637289"/>
                </a:solidFill>
              </a:rPr>
              <a:t>、</a:t>
            </a:r>
            <a:r>
              <a:rPr lang="en-US" altLang="zh-CN" sz="600" dirty="0">
                <a:solidFill>
                  <a:srgbClr val="637289"/>
                </a:solidFill>
              </a:rPr>
              <a:t>bileiwaf.com </a:t>
            </a:r>
            <a:r>
              <a:rPr lang="zh-CN" altLang="en-US" sz="600" dirty="0">
                <a:solidFill>
                  <a:srgbClr val="637289"/>
                </a:solidFill>
              </a:rPr>
              <a:t>等多个生产站点长期稳定运行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D656BBB8-CEBD-890B-8842-1ED306BFA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06" y="866671"/>
            <a:ext cx="5207518" cy="3584396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35989F59-D020-A2C8-2045-D6AD04D4F469}"/>
              </a:ext>
            </a:extLst>
          </p:cNvPr>
          <p:cNvSpPr/>
          <p:nvPr/>
        </p:nvSpPr>
        <p:spPr>
          <a:xfrm>
            <a:off x="539496" y="2957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6A0132CE-4CC3-FE99-39B5-C7526C074F34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产品官网 · 防护能力矩阵与应用场景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12064" y="2877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注入 / XSS / 命令注入 / 路径穿越 / XXE / SSRF / 上传 / 扫描器 / CC </a:t>
            </a:r>
            <a:r>
              <a:rPr lang="en-US" sz="10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九类防护，均可在线验证</a:t>
            </a:r>
            <a:endParaRPr lang="en-US" sz="105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17B7067B-5E01-1795-1590-6D9810235818}"/>
              </a:ext>
            </a:extLst>
          </p:cNvPr>
          <p:cNvSpPr/>
          <p:nvPr/>
        </p:nvSpPr>
        <p:spPr>
          <a:xfrm>
            <a:off x="7105227" y="283464"/>
            <a:ext cx="1581573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algn="r"/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4</a:t>
            </a:r>
            <a:endParaRPr lang="en-US" sz="11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280593F-C696-D589-688E-E999B8C18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737" y="1825367"/>
            <a:ext cx="3350417" cy="99169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03BBC48-5152-11C9-B489-2E4687F77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89" y="829963"/>
            <a:ext cx="4361361" cy="341280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B19B977-03D9-0867-5777-29C0463E7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3705" y="839687"/>
            <a:ext cx="3321621" cy="88017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45B304C-E2E4-70E9-C73E-45A62A3B7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3705" y="2942108"/>
            <a:ext cx="3314255" cy="1289927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5A765465-CD73-9D84-7EB9-2AAC49CF7F0A}"/>
              </a:ext>
            </a:extLst>
          </p:cNvPr>
          <p:cNvSpPr/>
          <p:nvPr/>
        </p:nvSpPr>
        <p:spPr>
          <a:xfrm>
            <a:off x="539496" y="2957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A39710-6898-1942-00CA-F7C99D159B74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31DA-A3BB-3B6F-09A4-8489D661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8D7312C9-6D8D-6CFE-D1DF-E50AFB68C331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5FA91A4-6F3B-4C62-6A63-E588177061D7}"/>
              </a:ext>
            </a:extLst>
          </p:cNvPr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FB500C-37D3-A4C2-7866-9B8FA51D47D6}"/>
              </a:ext>
            </a:extLst>
          </p:cNvPr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产品官网 · 防护能力矩阵与应用场景</a:t>
            </a:r>
            <a:endParaRPr lang="en-US" sz="17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D0B621D-03A5-4EB1-91F3-97AC1D9AC161}"/>
              </a:ext>
            </a:extLst>
          </p:cNvPr>
          <p:cNvSpPr/>
          <p:nvPr/>
        </p:nvSpPr>
        <p:spPr>
          <a:xfrm>
            <a:off x="512064" y="2877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注入 / XSS / 命令注入 / 路径穿越 / XXE / SSRF / 上传 / 扫描器 / CC </a:t>
            </a:r>
            <a:r>
              <a:rPr lang="en-US" sz="10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九类防护，均可在线验证</a:t>
            </a:r>
            <a:endParaRPr lang="en-US" sz="105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D46365D-7392-5676-233A-414593FCA76B}"/>
              </a:ext>
            </a:extLst>
          </p:cNvPr>
          <p:cNvSpPr/>
          <p:nvPr/>
        </p:nvSpPr>
        <p:spPr>
          <a:xfrm>
            <a:off x="7105227" y="283464"/>
            <a:ext cx="1581573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algn="r"/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altLang="zh-CN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4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D7CDD2E-9618-2076-3C28-715DF1313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44" y="793750"/>
            <a:ext cx="3963166" cy="105016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54E01EC-D673-0555-06E8-FEB86A0826F3}"/>
              </a:ext>
            </a:extLst>
          </p:cNvPr>
          <p:cNvSpPr txBox="1"/>
          <p:nvPr/>
        </p:nvSpPr>
        <p:spPr>
          <a:xfrm>
            <a:off x="1532190" y="39061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实测结果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5181019-550C-8F40-32EC-71AD3DCAF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936" y="1898717"/>
            <a:ext cx="4641020" cy="254823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385B35A-03E6-D49E-D024-99DB9D5CC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44" y="1898717"/>
            <a:ext cx="3201448" cy="1766504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48C40024-B148-CBC7-5BFA-0AD354775776}"/>
              </a:ext>
            </a:extLst>
          </p:cNvPr>
          <p:cNvSpPr/>
          <p:nvPr/>
        </p:nvSpPr>
        <p:spPr>
          <a:xfrm>
            <a:off x="539496" y="2957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C5014A-1FE5-A3A7-6458-469C14B40E82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4063886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69407-09E0-0EE1-E6BD-6DDA06D7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C12F3B87-866C-E7E0-175F-2F17E656CA71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97C344A-8EB4-5C38-4EB7-F503E8D38A46}"/>
              </a:ext>
            </a:extLst>
          </p:cNvPr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4DC8B0-AFD0-1645-9B01-E45AA3EE4D6D}"/>
              </a:ext>
            </a:extLst>
          </p:cNvPr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产品官网 · 防护能力矩阵与应用场景</a:t>
            </a:r>
            <a:endParaRPr lang="en-US" sz="17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521A0E5-9FED-4131-52DB-BA6EDEE9A249}"/>
              </a:ext>
            </a:extLst>
          </p:cNvPr>
          <p:cNvSpPr/>
          <p:nvPr/>
        </p:nvSpPr>
        <p:spPr>
          <a:xfrm>
            <a:off x="512064" y="2877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注入 / XSS / 命令注入 / 路径穿越 / XXE / SSRF / 上传 / 扫描器 / CC </a:t>
            </a:r>
            <a:r>
              <a:rPr lang="en-US" sz="10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九类防护，均可在线验证</a:t>
            </a:r>
            <a:endParaRPr lang="en-US" sz="105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5A469E1-02E7-E024-DBB2-E8E55464681D}"/>
              </a:ext>
            </a:extLst>
          </p:cNvPr>
          <p:cNvSpPr/>
          <p:nvPr/>
        </p:nvSpPr>
        <p:spPr>
          <a:xfrm>
            <a:off x="7105227" y="283464"/>
            <a:ext cx="1581573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algn="r"/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altLang="zh-CN" sz="11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r>
              <a:rPr lang="en-US" altLang="zh-CN" sz="11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altLang="zh-CN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4</a:t>
            </a:r>
            <a:endParaRPr lang="en-US" sz="11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F83D8A9-C77B-A43B-C9E8-1A7150F1C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14" y="1881166"/>
            <a:ext cx="3497105" cy="188194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095D8C0-CB7F-A240-5DB6-A6671BCE42C0}"/>
              </a:ext>
            </a:extLst>
          </p:cNvPr>
          <p:cNvSpPr txBox="1"/>
          <p:nvPr/>
        </p:nvSpPr>
        <p:spPr>
          <a:xfrm>
            <a:off x="1559304" y="4089849"/>
            <a:ext cx="1816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CC</a:t>
            </a:r>
            <a:r>
              <a:rPr lang="zh-CN" altLang="en-US" dirty="0">
                <a:solidFill>
                  <a:schemeClr val="bg1"/>
                </a:solidFill>
              </a:rPr>
              <a:t>防御触发效果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238F103-6AAA-028C-98F1-EACD45BCE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161" y="1878841"/>
            <a:ext cx="4468007" cy="2408405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31A70F15-A57E-7508-DBBD-EEC293922F1A}"/>
              </a:ext>
            </a:extLst>
          </p:cNvPr>
          <p:cNvSpPr/>
          <p:nvPr/>
        </p:nvSpPr>
        <p:spPr>
          <a:xfrm>
            <a:off x="539496" y="2957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FE28978-F2F8-BD98-992F-CD1B47134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44" y="793750"/>
            <a:ext cx="3963166" cy="105016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F599E31-B3DD-1130-5815-3FD9983CD7D4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198242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>
            <a:extLst>
              <a:ext uri="{FF2B5EF4-FFF2-40B4-BE49-F238E27FC236}">
                <a16:creationId xmlns:a16="http://schemas.microsoft.com/office/drawing/2014/main" id="{CE463487-8645-EC4D-F903-0908BCE4E875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>
              <a:solidFill>
                <a:srgbClr val="ED7D3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11200" y="28800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产品官网 · 应用场景与在线体验入口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91406" y="259571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应用上线必备安全能力 · 多站点统一防护 · 防爬虫防薅羊毛 · 安全合规建设</a:t>
            </a:r>
            <a:endParaRPr lang="en-US" sz="105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4EA0EED8-5D55-E757-1583-88EA4EDFAC34}"/>
              </a:ext>
            </a:extLst>
          </p:cNvPr>
          <p:cNvSpPr/>
          <p:nvPr/>
        </p:nvSpPr>
        <p:spPr>
          <a:xfrm>
            <a:off x="7000241" y="283464"/>
            <a:ext cx="1686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/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8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</a:t>
            </a:r>
            <a:endParaRPr lang="en-US" sz="8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F4B89ED-6725-AEBA-1983-865357060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07" y="886462"/>
            <a:ext cx="7554785" cy="2944639"/>
          </a:xfrm>
          <a:prstGeom prst="rect">
            <a:avLst/>
          </a:prstGeom>
        </p:spPr>
      </p:pic>
      <p:sp>
        <p:nvSpPr>
          <p:cNvPr id="4" name="Text 8">
            <a:extLst>
              <a:ext uri="{FF2B5EF4-FFF2-40B4-BE49-F238E27FC236}">
                <a16:creationId xmlns:a16="http://schemas.microsoft.com/office/drawing/2014/main" id="{8ACBB2E0-24BB-5F40-BB4D-BB4AC88C64E9}"/>
              </a:ext>
            </a:extLst>
          </p:cNvPr>
          <p:cNvSpPr/>
          <p:nvPr/>
        </p:nvSpPr>
        <p:spPr>
          <a:xfrm>
            <a:off x="543219" y="2757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0D699A8D-0716-904A-BA3A-295DA586D13B}"/>
              </a:ext>
            </a:extLst>
          </p:cNvPr>
          <p:cNvSpPr/>
          <p:nvPr/>
        </p:nvSpPr>
        <p:spPr>
          <a:xfrm>
            <a:off x="539496" y="2957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635717-451B-813B-DFE6-40E3B875D919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攻防演示控制台 · 实时统计与攻击模拟器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浏览器一键发起真实攻击载荷，WAF 拦截效果实时可见（403 拦截 / 200 放行）</a:t>
            </a:r>
            <a:endParaRPr lang="en-US" sz="10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7407A9E-46E5-AA0F-5D3D-815E7A944601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701B1B-9FB1-E619-87A8-2A0D23F6E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24" y="797018"/>
            <a:ext cx="3951706" cy="38469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2548351-7B8D-E220-5002-B2F069C3E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230" y="796469"/>
            <a:ext cx="3710794" cy="211551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90927D2-0EAE-A913-C6CA-42CCEAAC5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906" y="2911982"/>
            <a:ext cx="2586831" cy="133317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9F5FBB7-EA3C-F4D4-7B2D-36F4C7317763}"/>
              </a:ext>
            </a:extLst>
          </p:cNvPr>
          <p:cNvSpPr txBox="1"/>
          <p:nvPr/>
        </p:nvSpPr>
        <p:spPr>
          <a:xfrm>
            <a:off x="4854122" y="4284907"/>
            <a:ext cx="3357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CC</a:t>
            </a:r>
            <a:r>
              <a:rPr lang="zh-CN" altLang="en-US" sz="1200" dirty="0">
                <a:solidFill>
                  <a:schemeClr val="bg1"/>
                </a:solidFill>
              </a:rPr>
              <a:t>攻击后，</a:t>
            </a:r>
            <a:r>
              <a:rPr lang="en-US" altLang="zh-CN" sz="1200" dirty="0">
                <a:solidFill>
                  <a:schemeClr val="bg1"/>
                </a:solidFill>
              </a:rPr>
              <a:t>60</a:t>
            </a:r>
            <a:r>
              <a:rPr lang="zh-CN" altLang="en-US" sz="1200" dirty="0">
                <a:solidFill>
                  <a:schemeClr val="bg1"/>
                </a:solidFill>
              </a:rPr>
              <a:t>秒内黑名单（生产环境是</a:t>
            </a:r>
            <a:r>
              <a:rPr lang="en-US" altLang="zh-CN" sz="1200" dirty="0">
                <a:solidFill>
                  <a:schemeClr val="bg1"/>
                </a:solidFill>
              </a:rPr>
              <a:t>600</a:t>
            </a:r>
            <a:r>
              <a:rPr lang="zh-CN" altLang="en-US" sz="1200" dirty="0">
                <a:solidFill>
                  <a:schemeClr val="bg1"/>
                </a:solidFill>
              </a:rPr>
              <a:t>秒）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413B346-2F26-F47B-3BD3-CD440AA29187}"/>
              </a:ext>
            </a:extLst>
          </p:cNvPr>
          <p:cNvSpPr/>
          <p:nvPr/>
        </p:nvSpPr>
        <p:spPr>
          <a:xfrm>
            <a:off x="539496" y="2957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1B516451-C206-4780-AAAC-A6B8427AB408}"/>
              </a:ext>
            </a:extLst>
          </p:cNvPr>
          <p:cNvSpPr/>
          <p:nvPr/>
        </p:nvSpPr>
        <p:spPr>
          <a:xfrm>
            <a:off x="543219" y="2757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FFF77219-4679-D4B0-54C3-EA3945009FA8}"/>
              </a:ext>
            </a:extLst>
          </p:cNvPr>
          <p:cNvSpPr/>
          <p:nvPr/>
        </p:nvSpPr>
        <p:spPr>
          <a:xfrm>
            <a:off x="543804" y="26999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F732B74-3530-57E4-AF8A-E2D4060723C9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攻防演示控制台 · 实时攻击日志与功能总览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攻击日志每 4 秒自动刷新，规则名、命中载荷、来源 IP 全要素留痕</a:t>
            </a:r>
            <a:endParaRPr lang="en-US" sz="10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E041227-57BF-8D67-D3A3-4CEF82D40B1D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r>
              <a:rPr lang="en-US" sz="1000" dirty="0">
                <a:solidFill>
                  <a:schemeClr val="bg1"/>
                </a:solidFill>
              </a:rPr>
              <a:t>tail -200 waf-attack.log 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UA: Mozilla/5.0 (Windows NT 10.0; Win64; x64) </a:t>
            </a:r>
            <a:r>
              <a:rPr lang="en-US" sz="1000" dirty="0" err="1">
                <a:solidFill>
                  <a:schemeClr val="bg1"/>
                </a:solidFill>
              </a:rPr>
              <a:t>AppleWebKit</a:t>
            </a:r>
            <a:r>
              <a:rPr lang="en-US" sz="1000" dirty="0">
                <a:solidFill>
                  <a:schemeClr val="bg1"/>
                </a:solidFill>
              </a:rPr>
              <a:t>/537.36 (KHTML, like Gecko) Chrome/155.0.0.0 Safari/537.36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</a:t>
            </a:r>
            <a:r>
              <a:rPr lang="en-US" sz="1000" dirty="0" err="1">
                <a:solidFill>
                  <a:schemeClr val="bg1"/>
                </a:solidFill>
              </a:rPr>
              <a:t>Referer</a:t>
            </a:r>
            <a:r>
              <a:rPr lang="en-US" sz="1000" dirty="0">
                <a:solidFill>
                  <a:schemeClr val="bg1"/>
                </a:solidFill>
              </a:rPr>
              <a:t>: http://49.233.245.252/demo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+----------------------------------------</a:t>
            </a:r>
          </a:p>
          <a:p>
            <a:r>
              <a:rPr lang="en-US" sz="1000" dirty="0">
                <a:solidFill>
                  <a:schemeClr val="bg1"/>
                </a:solidFill>
              </a:rPr>
              <a:t>[2026-10-23 08:57:54] ATTACK | Type: SQL_INJECTION | Severity: 0 | Rule:  | Action: BLOCK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IP: </a:t>
            </a:r>
            <a:r>
              <a:rPr lang="en-US" sz="1000" dirty="0" err="1">
                <a:solidFill>
                  <a:schemeClr val="bg1"/>
                </a:solidFill>
              </a:rPr>
              <a:t>xxx.xxx.xxx.xxx</a:t>
            </a:r>
            <a:r>
              <a:rPr lang="en-US" sz="1000" dirty="0">
                <a:solidFill>
                  <a:schemeClr val="bg1"/>
                </a:solidFill>
              </a:rPr>
              <a:t> | Method: GET | Path: /demo/</a:t>
            </a:r>
            <a:r>
              <a:rPr lang="en-US" sz="1000" dirty="0" err="1">
                <a:solidFill>
                  <a:schemeClr val="bg1"/>
                </a:solidFill>
              </a:rPr>
              <a:t>api</a:t>
            </a:r>
            <a:r>
              <a:rPr lang="en-US" sz="1000" dirty="0">
                <a:solidFill>
                  <a:schemeClr val="bg1"/>
                </a:solidFill>
              </a:rPr>
              <a:t>/logs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UA: Mozilla/5.0 (Windows NT 10.0; Win64; x64) </a:t>
            </a:r>
            <a:r>
              <a:rPr lang="en-US" sz="1000" dirty="0" err="1">
                <a:solidFill>
                  <a:schemeClr val="bg1"/>
                </a:solidFill>
              </a:rPr>
              <a:t>AppleWebKit</a:t>
            </a:r>
            <a:r>
              <a:rPr lang="en-US" sz="1000" dirty="0">
                <a:solidFill>
                  <a:schemeClr val="bg1"/>
                </a:solidFill>
              </a:rPr>
              <a:t>/537.36 (KHTML, like Gecko) Chrome/155.0.0.0 Safari/537.36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</a:t>
            </a:r>
            <a:r>
              <a:rPr lang="en-US" sz="1000" dirty="0" err="1">
                <a:solidFill>
                  <a:schemeClr val="bg1"/>
                </a:solidFill>
              </a:rPr>
              <a:t>Referer</a:t>
            </a:r>
            <a:r>
              <a:rPr lang="en-US" sz="1000" dirty="0">
                <a:solidFill>
                  <a:schemeClr val="bg1"/>
                </a:solidFill>
              </a:rPr>
              <a:t>: http://49.233.245.252/demo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+----------------------------------------</a:t>
            </a:r>
          </a:p>
          <a:p>
            <a:r>
              <a:rPr lang="en-US" sz="1000" dirty="0">
                <a:solidFill>
                  <a:schemeClr val="bg1"/>
                </a:solidFill>
              </a:rPr>
              <a:t>[2026-10-23 08:57:58] ATTACK | Type: SQL_INJECTION | Severity: 0 | Rule:  | Action: BLOCK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IP: </a:t>
            </a:r>
            <a:r>
              <a:rPr lang="en-US" sz="1000" dirty="0" err="1">
                <a:solidFill>
                  <a:schemeClr val="bg1"/>
                </a:solidFill>
              </a:rPr>
              <a:t>xxx.xxx.xxx.xxx</a:t>
            </a:r>
            <a:r>
              <a:rPr lang="en-US" sz="1000" dirty="0">
                <a:solidFill>
                  <a:schemeClr val="bg1"/>
                </a:solidFill>
              </a:rPr>
              <a:t> | Method: GET | Path: /demo/</a:t>
            </a:r>
            <a:r>
              <a:rPr lang="en-US" sz="1000" dirty="0" err="1">
                <a:solidFill>
                  <a:schemeClr val="bg1"/>
                </a:solidFill>
              </a:rPr>
              <a:t>api</a:t>
            </a:r>
            <a:r>
              <a:rPr lang="en-US" sz="1000" dirty="0">
                <a:solidFill>
                  <a:schemeClr val="bg1"/>
                </a:solidFill>
              </a:rPr>
              <a:t>/logs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UA: Mozilla/5.0 (Windows NT 10.0; Win64; x64) </a:t>
            </a:r>
            <a:r>
              <a:rPr lang="en-US" sz="1000" dirty="0" err="1">
                <a:solidFill>
                  <a:schemeClr val="bg1"/>
                </a:solidFill>
              </a:rPr>
              <a:t>AppleWebKit</a:t>
            </a:r>
            <a:r>
              <a:rPr lang="en-US" sz="1000" dirty="0">
                <a:solidFill>
                  <a:schemeClr val="bg1"/>
                </a:solidFill>
              </a:rPr>
              <a:t>/537.36 (KHTML, like Gecko) Chrome/155.0.0.0 Safari/537.36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</a:t>
            </a:r>
            <a:r>
              <a:rPr lang="en-US" sz="1000" dirty="0" err="1">
                <a:solidFill>
                  <a:schemeClr val="bg1"/>
                </a:solidFill>
              </a:rPr>
              <a:t>Referer</a:t>
            </a:r>
            <a:r>
              <a:rPr lang="en-US" sz="1000" dirty="0">
                <a:solidFill>
                  <a:schemeClr val="bg1"/>
                </a:solidFill>
              </a:rPr>
              <a:t>: http://49.233.245.252/demo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+----------------------------------------</a:t>
            </a:r>
          </a:p>
          <a:p>
            <a:r>
              <a:rPr lang="en-US" sz="1000" dirty="0">
                <a:solidFill>
                  <a:schemeClr val="bg1"/>
                </a:solidFill>
              </a:rPr>
              <a:t>[2026-10-23 08:57:59] ATTACK | Type: SQL_INJECTION | Severity: 0 | Rule:  | Action: BLOCK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IP: </a:t>
            </a:r>
            <a:r>
              <a:rPr lang="en-US" sz="1000" dirty="0" err="1">
                <a:solidFill>
                  <a:schemeClr val="bg1"/>
                </a:solidFill>
              </a:rPr>
              <a:t>xxx.xxx.xxx.xxx</a:t>
            </a:r>
            <a:r>
              <a:rPr lang="en-US" sz="1000" dirty="0">
                <a:solidFill>
                  <a:schemeClr val="bg1"/>
                </a:solidFill>
              </a:rPr>
              <a:t> | Method: GET | Path: /demo/</a:t>
            </a:r>
            <a:r>
              <a:rPr lang="en-US" sz="1000" dirty="0" err="1">
                <a:solidFill>
                  <a:schemeClr val="bg1"/>
                </a:solidFill>
              </a:rPr>
              <a:t>api</a:t>
            </a:r>
            <a:r>
              <a:rPr lang="en-US" sz="1000" dirty="0">
                <a:solidFill>
                  <a:schemeClr val="bg1"/>
                </a:solidFill>
              </a:rPr>
              <a:t>/info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UA: Mozilla/5.0 (Windows NT 10.0; Win64; x64) </a:t>
            </a:r>
            <a:r>
              <a:rPr lang="en-US" sz="1000" dirty="0" err="1">
                <a:solidFill>
                  <a:schemeClr val="bg1"/>
                </a:solidFill>
              </a:rPr>
              <a:t>AppleWebKit</a:t>
            </a:r>
            <a:r>
              <a:rPr lang="en-US" sz="1000" dirty="0">
                <a:solidFill>
                  <a:schemeClr val="bg1"/>
                </a:solidFill>
              </a:rPr>
              <a:t>/537.36 (KHTML, like Gecko) Chrome/155.0.0.0 Safari/537.36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</a:t>
            </a:r>
            <a:r>
              <a:rPr lang="en-US" sz="1000" dirty="0" err="1">
                <a:solidFill>
                  <a:schemeClr val="bg1"/>
                </a:solidFill>
              </a:rPr>
              <a:t>Referer</a:t>
            </a:r>
            <a:r>
              <a:rPr lang="en-US" sz="1000" dirty="0">
                <a:solidFill>
                  <a:schemeClr val="bg1"/>
                </a:solidFill>
              </a:rPr>
              <a:t>: http://49.233.245.252/demo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+----------------------------------------</a:t>
            </a:r>
          </a:p>
          <a:p>
            <a:r>
              <a:rPr lang="en-US" sz="1000" dirty="0">
                <a:solidFill>
                  <a:schemeClr val="bg1"/>
                </a:solidFill>
              </a:rPr>
              <a:t>[2026-10-23 08:58:02] ATTACK | Type: SQL_INJECTION | Severity: 0 | Rule:  | Action: BLOCK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IP: </a:t>
            </a:r>
            <a:r>
              <a:rPr lang="en-US" sz="1000" dirty="0" err="1">
                <a:solidFill>
                  <a:schemeClr val="bg1"/>
                </a:solidFill>
              </a:rPr>
              <a:t>xxx.xxx.xxx.xxx</a:t>
            </a:r>
            <a:r>
              <a:rPr lang="en-US" sz="1000" dirty="0">
                <a:solidFill>
                  <a:schemeClr val="bg1"/>
                </a:solidFill>
              </a:rPr>
              <a:t> | Method: GET | Path: /demo/</a:t>
            </a:r>
            <a:r>
              <a:rPr lang="en-US" sz="1000" dirty="0" err="1">
                <a:solidFill>
                  <a:schemeClr val="bg1"/>
                </a:solidFill>
              </a:rPr>
              <a:t>api</a:t>
            </a:r>
            <a:r>
              <a:rPr lang="en-US" sz="1000" dirty="0">
                <a:solidFill>
                  <a:schemeClr val="bg1"/>
                </a:solidFill>
              </a:rPr>
              <a:t>/logs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UA: Mozilla/5.0 (Windows NT 10.0; Win64; x64) </a:t>
            </a:r>
            <a:r>
              <a:rPr lang="en-US" sz="1000" dirty="0" err="1">
                <a:solidFill>
                  <a:schemeClr val="bg1"/>
                </a:solidFill>
              </a:rPr>
              <a:t>AppleWebKit</a:t>
            </a:r>
            <a:r>
              <a:rPr lang="en-US" sz="1000" dirty="0">
                <a:solidFill>
                  <a:schemeClr val="bg1"/>
                </a:solidFill>
              </a:rPr>
              <a:t>/537.36 (KHTML, like Gecko) Chrome/155.0.0.0 Safari/537.36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| </a:t>
            </a:r>
            <a:r>
              <a:rPr lang="en-US" sz="1000" dirty="0" err="1">
                <a:solidFill>
                  <a:schemeClr val="bg1"/>
                </a:solidFill>
              </a:rPr>
              <a:t>Referer</a:t>
            </a:r>
            <a:r>
              <a:rPr lang="en-US" sz="1000" dirty="0">
                <a:solidFill>
                  <a:schemeClr val="bg1"/>
                </a:solidFill>
              </a:rPr>
              <a:t>: http://49.233.245.252/demo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+----------------------------------------</a:t>
            </a:r>
          </a:p>
          <a:p>
            <a:endParaRPr sz="1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33D787-3965-3B0E-B303-E6949B52A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84" y="937908"/>
            <a:ext cx="3833104" cy="2152661"/>
          </a:xfrm>
          <a:prstGeom prst="rect">
            <a:avLst/>
          </a:prstGeom>
        </p:spPr>
      </p:pic>
      <p:sp>
        <p:nvSpPr>
          <p:cNvPr id="12" name="Text 12">
            <a:extLst>
              <a:ext uri="{FF2B5EF4-FFF2-40B4-BE49-F238E27FC236}">
                <a16:creationId xmlns:a16="http://schemas.microsoft.com/office/drawing/2014/main" id="{D7975448-C0E0-F2F8-25FE-89918CAB466A}"/>
              </a:ext>
            </a:extLst>
          </p:cNvPr>
          <p:cNvSpPr/>
          <p:nvPr/>
        </p:nvSpPr>
        <p:spPr>
          <a:xfrm>
            <a:off x="543804" y="26999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68C45E-99FF-6555-2038-A8AFEFE78B8B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>
            <a:extLst>
              <a:ext uri="{FF2B5EF4-FFF2-40B4-BE49-F238E27FC236}">
                <a16:creationId xmlns:a16="http://schemas.microsoft.com/office/drawing/2014/main" id="{1ADFB3CC-E08B-4F3F-6F9F-0CF863376A70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攻防演示控制台 · 功能矩阵与命令行验证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SSL/Let's Encrypt 自动签发、三种工作模式、GeoIP 封禁等 12 </a:t>
            </a:r>
            <a:r>
              <a:rPr lang="en-US" sz="10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项能力</a:t>
            </a:r>
            <a:r>
              <a:rPr lang="en-US" altLang="zh-CN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，</a:t>
            </a:r>
            <a:r>
              <a:rPr lang="en-US" altLang="zh-CN" sz="10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附可复制的</a:t>
            </a:r>
            <a:r>
              <a:rPr lang="en-US" altLang="zh-CN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curl </a:t>
            </a:r>
            <a:r>
              <a:rPr lang="en-US" altLang="zh-CN" sz="10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验证命令</a:t>
            </a:r>
            <a:endParaRPr lang="en-US" sz="105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C011C8D-584F-943B-0B8D-EC2188FD6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72" y="818176"/>
            <a:ext cx="7691777" cy="2368733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3B452DF-3298-EC84-7072-C3E9FFCC713A}"/>
              </a:ext>
            </a:extLst>
          </p:cNvPr>
          <p:cNvSpPr/>
          <p:nvPr/>
        </p:nvSpPr>
        <p:spPr>
          <a:xfrm>
            <a:off x="701586" y="3225065"/>
            <a:ext cx="4874550" cy="1449903"/>
          </a:xfrm>
          <a:prstGeom prst="roundRect">
            <a:avLst>
              <a:gd name="adj" fmla="val 73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045153A-EF9B-7068-A9CE-34760473FDCC}"/>
              </a:ext>
            </a:extLst>
          </p:cNvPr>
          <p:cNvSpPr/>
          <p:nvPr/>
        </p:nvSpPr>
        <p:spPr>
          <a:xfrm>
            <a:off x="5665890" y="3225013"/>
            <a:ext cx="2750233" cy="1449903"/>
          </a:xfrm>
          <a:prstGeom prst="roundRect">
            <a:avLst>
              <a:gd name="adj" fmla="val 73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45C24D6-E12C-01A0-8077-7C10FA3AFA72}"/>
              </a:ext>
            </a:extLst>
          </p:cNvPr>
          <p:cNvSpPr txBox="1"/>
          <p:nvPr/>
        </p:nvSpPr>
        <p:spPr>
          <a:xfrm>
            <a:off x="5659116" y="3319401"/>
            <a:ext cx="33950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curl -</a:t>
            </a:r>
            <a:r>
              <a:rPr lang="en-US" altLang="zh-CN" sz="1000" dirty="0" err="1"/>
              <a:t>i</a:t>
            </a:r>
            <a:r>
              <a:rPr lang="en-US" altLang="zh-CN" sz="1000" dirty="0"/>
              <a:t> "https://bileiwaf.com/? user=admin'--%20"</a:t>
            </a:r>
            <a:endParaRPr lang="zh-CN" altLang="zh-CN" sz="1000" dirty="0"/>
          </a:p>
          <a:p>
            <a:endParaRPr lang="en-US" altLang="zh-CN" sz="1000" dirty="0">
              <a:solidFill>
                <a:schemeClr val="bg1"/>
              </a:solidFill>
            </a:endParaRPr>
          </a:p>
          <a:p>
            <a:r>
              <a:rPr lang="en-US" altLang="zh-CN" sz="1000" dirty="0">
                <a:solidFill>
                  <a:schemeClr val="bg1"/>
                </a:solidFill>
              </a:rPr>
              <a:t>HTTP/1.1 403 Forbidden</a:t>
            </a:r>
          </a:p>
          <a:p>
            <a:r>
              <a:rPr lang="en-US" altLang="zh-CN" sz="1000" dirty="0">
                <a:solidFill>
                  <a:schemeClr val="bg1"/>
                </a:solidFill>
              </a:rPr>
              <a:t>Content-Length: 172</a:t>
            </a:r>
          </a:p>
          <a:p>
            <a:r>
              <a:rPr lang="en-US" altLang="zh-CN" sz="1000" dirty="0">
                <a:solidFill>
                  <a:schemeClr val="bg1"/>
                </a:solidFill>
              </a:rPr>
              <a:t>Connection: keep-alive</a:t>
            </a:r>
          </a:p>
          <a:p>
            <a:r>
              <a:rPr lang="en-US" altLang="zh-CN" sz="1000" dirty="0">
                <a:solidFill>
                  <a:schemeClr val="bg1"/>
                </a:solidFill>
              </a:rPr>
              <a:t>Keep-Alive: timeout=75, max=1000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C44EBA-CE6D-94E7-5625-FB3A00D8CC44}"/>
              </a:ext>
            </a:extLst>
          </p:cNvPr>
          <p:cNvSpPr txBox="1"/>
          <p:nvPr/>
        </p:nvSpPr>
        <p:spPr>
          <a:xfrm>
            <a:off x="683846" y="3180653"/>
            <a:ext cx="49295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命令行验证示例</a:t>
            </a:r>
          </a:p>
          <a:p>
            <a:r>
              <a:rPr lang="en-US" altLang="zh-CN" sz="1000" dirty="0">
                <a:solidFill>
                  <a:schemeClr val="bg1"/>
                </a:solidFill>
              </a:rPr>
              <a:t>curl -</a:t>
            </a:r>
            <a:r>
              <a:rPr lang="en-US" altLang="zh-CN" sz="1000" dirty="0" err="1">
                <a:solidFill>
                  <a:schemeClr val="bg1"/>
                </a:solidFill>
              </a:rPr>
              <a:t>i</a:t>
            </a:r>
            <a:r>
              <a:rPr lang="en-US" altLang="zh-CN" sz="1000" dirty="0">
                <a:solidFill>
                  <a:schemeClr val="bg1"/>
                </a:solidFill>
              </a:rPr>
              <a:t> "https://bileiwaf.com/?id=1'%20OR%20'1'%3D'1"</a:t>
            </a:r>
          </a:p>
          <a:p>
            <a:r>
              <a:rPr lang="en-US" altLang="zh-CN" sz="1000" dirty="0">
                <a:solidFill>
                  <a:schemeClr val="bg1"/>
                </a:solidFill>
              </a:rPr>
              <a:t>curl -</a:t>
            </a:r>
            <a:r>
              <a:rPr lang="en-US" altLang="zh-CN" sz="1000" dirty="0" err="1">
                <a:solidFill>
                  <a:schemeClr val="bg1"/>
                </a:solidFill>
              </a:rPr>
              <a:t>i</a:t>
            </a:r>
            <a:r>
              <a:rPr lang="en-US" altLang="zh-CN" sz="1000" dirty="0">
                <a:solidFill>
                  <a:schemeClr val="bg1"/>
                </a:solidFill>
              </a:rPr>
              <a:t> "https://bileiwaf.com/?q=1%20UNION%20SELECT%20password%20FROM%20users"</a:t>
            </a:r>
          </a:p>
          <a:p>
            <a:r>
              <a:rPr lang="en-US" altLang="zh-CN" sz="1000" dirty="0">
                <a:solidFill>
                  <a:schemeClr val="bg1"/>
                </a:solidFill>
              </a:rPr>
              <a:t>curl -</a:t>
            </a:r>
            <a:r>
              <a:rPr lang="en-US" altLang="zh-CN" sz="1000" dirty="0" err="1">
                <a:solidFill>
                  <a:schemeClr val="bg1"/>
                </a:solidFill>
              </a:rPr>
              <a:t>i</a:t>
            </a:r>
            <a:r>
              <a:rPr lang="en-US" altLang="zh-CN" sz="1000" dirty="0">
                <a:solidFill>
                  <a:schemeClr val="bg1"/>
                </a:solidFill>
              </a:rPr>
              <a:t> "https://bileiwaf.com/?user=admin'--%20"</a:t>
            </a:r>
          </a:p>
          <a:p>
            <a:r>
              <a:rPr lang="en-US" altLang="zh-CN" sz="1000" dirty="0">
                <a:solidFill>
                  <a:schemeClr val="bg1"/>
                </a:solidFill>
              </a:rPr>
              <a:t>curl -</a:t>
            </a:r>
            <a:r>
              <a:rPr lang="en-US" altLang="zh-CN" sz="1000" dirty="0" err="1">
                <a:solidFill>
                  <a:schemeClr val="bg1"/>
                </a:solidFill>
              </a:rPr>
              <a:t>i</a:t>
            </a:r>
            <a:r>
              <a:rPr lang="en-US" altLang="zh-CN" sz="1000" dirty="0">
                <a:solidFill>
                  <a:schemeClr val="bg1"/>
                </a:solidFill>
              </a:rPr>
              <a:t> "https://bileiwaf.com/?name=%3Cscript%3Ealert(1)%3C%2Fscript%3E"</a:t>
            </a:r>
          </a:p>
          <a:p>
            <a:r>
              <a:rPr lang="en-US" altLang="zh-CN" sz="1000" dirty="0">
                <a:solidFill>
                  <a:schemeClr val="bg1"/>
                </a:solidFill>
              </a:rPr>
              <a:t>curl -</a:t>
            </a:r>
            <a:r>
              <a:rPr lang="en-US" altLang="zh-CN" sz="1000" dirty="0" err="1">
                <a:solidFill>
                  <a:schemeClr val="bg1"/>
                </a:solidFill>
              </a:rPr>
              <a:t>i</a:t>
            </a:r>
            <a:r>
              <a:rPr lang="en-US" altLang="zh-CN" sz="1000" dirty="0">
                <a:solidFill>
                  <a:schemeClr val="bg1"/>
                </a:solidFill>
              </a:rPr>
              <a:t> "https://bileiwaf.com/?x=%3Cimg%20src%3Dx%20onerror%3Dalert(1)%3E"</a:t>
            </a:r>
          </a:p>
          <a:p>
            <a:r>
              <a:rPr lang="en-US" altLang="zh-CN" sz="1000" dirty="0">
                <a:solidFill>
                  <a:schemeClr val="bg1"/>
                </a:solidFill>
              </a:rPr>
              <a:t>curl -</a:t>
            </a:r>
            <a:r>
              <a:rPr lang="en-US" altLang="zh-CN" sz="1000" dirty="0" err="1">
                <a:solidFill>
                  <a:schemeClr val="bg1"/>
                </a:solidFill>
              </a:rPr>
              <a:t>i</a:t>
            </a:r>
            <a:r>
              <a:rPr lang="en-US" altLang="zh-CN" sz="1000" dirty="0">
                <a:solidFill>
                  <a:schemeClr val="bg1"/>
                </a:solidFill>
              </a:rPr>
              <a:t> "https://bileiwaf.com/?</a:t>
            </a:r>
            <a:r>
              <a:rPr lang="en-US" altLang="zh-CN" sz="1000" dirty="0" err="1">
                <a:solidFill>
                  <a:schemeClr val="bg1"/>
                </a:solidFill>
              </a:rPr>
              <a:t>url</a:t>
            </a:r>
            <a:r>
              <a:rPr lang="en-US" altLang="zh-CN" sz="1000" dirty="0">
                <a:solidFill>
                  <a:schemeClr val="bg1"/>
                </a:solidFill>
              </a:rPr>
              <a:t>=javascript%3Aalert(1)"</a:t>
            </a:r>
          </a:p>
          <a:p>
            <a:r>
              <a:rPr lang="en-US" altLang="zh-CN" sz="1000" dirty="0">
                <a:solidFill>
                  <a:schemeClr val="bg1"/>
                </a:solidFill>
              </a:rPr>
              <a:t>curl -</a:t>
            </a:r>
            <a:r>
              <a:rPr lang="en-US" altLang="zh-CN" sz="1000" dirty="0" err="1">
                <a:solidFill>
                  <a:schemeClr val="bg1"/>
                </a:solidFill>
              </a:rPr>
              <a:t>i</a:t>
            </a:r>
            <a:r>
              <a:rPr lang="en-US" altLang="zh-CN" sz="1000" dirty="0">
                <a:solidFill>
                  <a:schemeClr val="bg1"/>
                </a:solidFill>
              </a:rPr>
              <a:t> "https://bileiwaf.com/?file=%3B%20cat%20%2Fetc%2Fpasswd"</a:t>
            </a:r>
          </a:p>
          <a:p>
            <a:r>
              <a:rPr lang="en-US" altLang="zh-CN" sz="1000" dirty="0">
                <a:solidFill>
                  <a:schemeClr val="bg1"/>
                </a:solidFill>
              </a:rPr>
              <a:t>curl -</a:t>
            </a:r>
            <a:r>
              <a:rPr lang="en-US" altLang="zh-CN" sz="1000" dirty="0" err="1">
                <a:solidFill>
                  <a:schemeClr val="bg1"/>
                </a:solidFill>
              </a:rPr>
              <a:t>i</a:t>
            </a:r>
            <a:r>
              <a:rPr lang="en-US" altLang="zh-CN" sz="1000" dirty="0">
                <a:solidFill>
                  <a:schemeClr val="bg1"/>
                </a:solidFill>
              </a:rPr>
              <a:t> "https://bileiwaf.com/?</a:t>
            </a:r>
            <a:r>
              <a:rPr lang="en-US" altLang="zh-CN" sz="1000" dirty="0" err="1">
                <a:solidFill>
                  <a:schemeClr val="bg1"/>
                </a:solidFill>
              </a:rPr>
              <a:t>cmd</a:t>
            </a:r>
            <a:r>
              <a:rPr lang="en-US" altLang="zh-CN" sz="1000" dirty="0">
                <a:solidFill>
                  <a:schemeClr val="bg1"/>
                </a:solidFill>
              </a:rPr>
              <a:t>=%7C%20cat%20%2Fetc%2Fpasswd"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8229AE62-58D6-EB07-390E-1E03D6B5D616}"/>
              </a:ext>
            </a:extLst>
          </p:cNvPr>
          <p:cNvSpPr/>
          <p:nvPr/>
        </p:nvSpPr>
        <p:spPr>
          <a:xfrm>
            <a:off x="543804" y="26999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EDE5296-3EE7-B309-76CE-75A8F29F6D8F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安全监控大屏 · 全球攻击态势与实时防护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1100" dirty="0" err="1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</a:t>
            </a: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(demo</a:t>
            </a:r>
            <a:r>
              <a:rPr lang="zh-CN" alt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演示）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攻击类型分布、威胁等级、攻击源 TOP5、24 小时趋势与实时攻击流一屏总览</a:t>
            </a:r>
            <a:endParaRPr lang="en-US" sz="10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841F2038-99C5-F011-9982-AC65A7C4CFE0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616F03-2C7F-9C3F-2660-209E5E120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96" y="754850"/>
            <a:ext cx="7706475" cy="3928910"/>
          </a:xfrm>
          <a:prstGeom prst="rect">
            <a:avLst/>
          </a:prstGeom>
        </p:spPr>
      </p:pic>
      <p:sp>
        <p:nvSpPr>
          <p:cNvPr id="11" name="Text 16">
            <a:extLst>
              <a:ext uri="{FF2B5EF4-FFF2-40B4-BE49-F238E27FC236}">
                <a16:creationId xmlns:a16="http://schemas.microsoft.com/office/drawing/2014/main" id="{C2F529EE-A3E5-3279-E09B-6C1D635DFB6F}"/>
              </a:ext>
            </a:extLst>
          </p:cNvPr>
          <p:cNvSpPr/>
          <p:nvPr/>
        </p:nvSpPr>
        <p:spPr>
          <a:xfrm>
            <a:off x="539496" y="914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7BA3476-1404-D9F2-7649-355B956B2BAF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检测能力验证报告 · 评测方法与核心指标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blazehttp 开源评测 · 全量真实流量回放：恶意样本 658 · 白样本 33,219</a:t>
            </a:r>
            <a:endParaRPr lang="en-US" sz="10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5B49785C-99FE-AC72-BE34-C51B25766925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D956845-8AD7-2DCE-394E-741CDB427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2" y="796469"/>
            <a:ext cx="7678940" cy="3680704"/>
          </a:xfrm>
          <a:prstGeom prst="rect">
            <a:avLst/>
          </a:prstGeom>
        </p:spPr>
      </p:pic>
      <p:sp>
        <p:nvSpPr>
          <p:cNvPr id="11" name="Text 20">
            <a:extLst>
              <a:ext uri="{FF2B5EF4-FFF2-40B4-BE49-F238E27FC236}">
                <a16:creationId xmlns:a16="http://schemas.microsoft.com/office/drawing/2014/main" id="{7A7FDCB6-6185-B8EC-C5D9-06247BCA104D}"/>
              </a:ext>
            </a:extLst>
          </p:cNvPr>
          <p:cNvSpPr/>
          <p:nvPr/>
        </p:nvSpPr>
        <p:spPr>
          <a:xfrm>
            <a:off x="539496" y="23331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27AE3F-3861-FFE4-D2BC-1BB5223E8984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检测能力验证报告 · 三模式检测结果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auto（AI 先判 + 规则联级）检出率 99.70% · 误报率 0.09% · 综合准确率 99.903%</a:t>
            </a:r>
            <a:endParaRPr lang="en-US" sz="10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140C9EA-3384-674D-4F07-8C22EDBE6841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85DFF0-4202-49B0-9654-BA7108444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26" y="796469"/>
            <a:ext cx="7748693" cy="3091424"/>
          </a:xfrm>
          <a:prstGeom prst="rect">
            <a:avLst/>
          </a:prstGeom>
        </p:spPr>
      </p:pic>
      <p:sp>
        <p:nvSpPr>
          <p:cNvPr id="11" name="Text 20">
            <a:extLst>
              <a:ext uri="{FF2B5EF4-FFF2-40B4-BE49-F238E27FC236}">
                <a16:creationId xmlns:a16="http://schemas.microsoft.com/office/drawing/2014/main" id="{B4168E32-378A-5AA7-3B6B-1AFB027B7949}"/>
              </a:ext>
            </a:extLst>
          </p:cNvPr>
          <p:cNvSpPr/>
          <p:nvPr/>
        </p:nvSpPr>
        <p:spPr>
          <a:xfrm>
            <a:off x="539496" y="23331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E83F42-18FD-F973-B459-43C6078F91F4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检测能力验证报告 · 主流 WAF 公开基线对比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相同样本基线下，检出率与综合准确率全面领先（ModSecurity PL4：94.61% / 48.34%）</a:t>
            </a:r>
            <a:endParaRPr lang="en-US" sz="10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03A0C669-F73C-8519-53CD-7D193772A2FC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E59878C-59DC-1B2E-19A4-4460B07B8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58" y="1259448"/>
            <a:ext cx="6607503" cy="233719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D5661C3-9C52-C05F-2184-59A912F19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58" y="3355043"/>
            <a:ext cx="4450084" cy="11932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864DB54-5173-7C2C-25A6-BA96D4E4E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53" y="797773"/>
            <a:ext cx="6753013" cy="499284"/>
          </a:xfrm>
          <a:prstGeom prst="rect">
            <a:avLst/>
          </a:prstGeom>
        </p:spPr>
      </p:pic>
      <p:sp>
        <p:nvSpPr>
          <p:cNvPr id="17" name="Text 20">
            <a:extLst>
              <a:ext uri="{FF2B5EF4-FFF2-40B4-BE49-F238E27FC236}">
                <a16:creationId xmlns:a16="http://schemas.microsoft.com/office/drawing/2014/main" id="{1F9FFBCF-0720-5AF6-AB9A-DDEC3A02E492}"/>
              </a:ext>
            </a:extLst>
          </p:cNvPr>
          <p:cNvSpPr/>
          <p:nvPr/>
        </p:nvSpPr>
        <p:spPr>
          <a:xfrm>
            <a:off x="539496" y="23331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A31090-A1CE-0D7F-8875-BD2721545689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检测能力验证报告 · 性能实测与部署交付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处理 5,759 QPS · 平均耗时 162.53ms；configure / make / make install 标准构建</a:t>
            </a:r>
            <a:endParaRPr lang="en-US" sz="10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79D815F-2281-0F56-31E3-C80415BFB613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0C7444-8358-C9FD-6982-5B0DF1157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791725"/>
            <a:ext cx="7661922" cy="3143582"/>
          </a:xfrm>
          <a:prstGeom prst="rect">
            <a:avLst/>
          </a:prstGeom>
        </p:spPr>
      </p:pic>
      <p:sp>
        <p:nvSpPr>
          <p:cNvPr id="11" name="Text 20">
            <a:extLst>
              <a:ext uri="{FF2B5EF4-FFF2-40B4-BE49-F238E27FC236}">
                <a16:creationId xmlns:a16="http://schemas.microsoft.com/office/drawing/2014/main" id="{11DC96B0-65FE-39F6-F3CB-3E5EA3974E82}"/>
              </a:ext>
            </a:extLst>
          </p:cNvPr>
          <p:cNvSpPr/>
          <p:nvPr/>
        </p:nvSpPr>
        <p:spPr>
          <a:xfrm>
            <a:off x="539496" y="23331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4EA5C2-A5F4-06FF-C72B-A2F02CB7AC96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检测能力验证报告 · 功能清单与验证结论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 ≥99.8% 设计目标；AI 双通道在 rules 基础上补拦 11 个漏报样本且不新增误报</a:t>
            </a:r>
            <a:endParaRPr lang="en-US" sz="10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59441488-D4DD-A4FE-8A64-AED64CF671CF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3A83A9-4D1A-969C-58FB-064457562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46" y="748428"/>
            <a:ext cx="7545490" cy="3920999"/>
          </a:xfrm>
          <a:prstGeom prst="rect">
            <a:avLst/>
          </a:prstGeom>
        </p:spPr>
      </p:pic>
      <p:sp>
        <p:nvSpPr>
          <p:cNvPr id="5" name="Text 20">
            <a:extLst>
              <a:ext uri="{FF2B5EF4-FFF2-40B4-BE49-F238E27FC236}">
                <a16:creationId xmlns:a16="http://schemas.microsoft.com/office/drawing/2014/main" id="{427618EA-716B-57A5-C521-4CCF72A9654C}"/>
              </a:ext>
            </a:extLst>
          </p:cNvPr>
          <p:cNvSpPr/>
          <p:nvPr/>
        </p:nvSpPr>
        <p:spPr>
          <a:xfrm>
            <a:off x="539496" y="23331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D8AA52-52E1-39CA-BF94-29B642B00038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登录页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会话鉴权 · 登录失败次数限制（429 防爆破）</a:t>
            </a:r>
            <a:endParaRPr lang="en-US" sz="10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28E2500-C20D-02E9-05C0-8AB8F25BA8C7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opt/waf/docs/screenshots/admin_login_1920x869.png">
            <a:extLst>
              <a:ext uri="{FF2B5EF4-FFF2-40B4-BE49-F238E27FC236}">
                <a16:creationId xmlns:a16="http://schemas.microsoft.com/office/drawing/2014/main" id="{7E26C71C-77A8-4D8B-C674-B771A13D9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68" y="1014384"/>
            <a:ext cx="7615084" cy="3446619"/>
          </a:xfrm>
          <a:prstGeom prst="rect">
            <a:avLst/>
          </a:prstGeom>
        </p:spPr>
      </p:pic>
      <p:sp>
        <p:nvSpPr>
          <p:cNvPr id="6" name="Text 24">
            <a:extLst>
              <a:ext uri="{FF2B5EF4-FFF2-40B4-BE49-F238E27FC236}">
                <a16:creationId xmlns:a16="http://schemas.microsoft.com/office/drawing/2014/main" id="{DAFF9194-9FF7-0900-B649-15A7B6DD4E79}"/>
              </a:ext>
            </a:extLst>
          </p:cNvPr>
          <p:cNvSpPr/>
          <p:nvPr/>
        </p:nvSpPr>
        <p:spPr>
          <a:xfrm>
            <a:off x="535922" y="2005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1F94FD-7669-B5CC-AD06-8F9261552B4C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安全防护监控大屏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今日攻击 / 本月拦截 / 实时 QPS / 全球态势 / 命中规则 TOP5 </a:t>
            </a:r>
            <a:r>
              <a:rPr lang="en-US" sz="105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管理侧全屏视图</a:t>
            </a:r>
            <a:r>
              <a:rPr lang="zh-CN" alt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（真实数据）</a:t>
            </a:r>
            <a:endParaRPr lang="en-US" sz="10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BDEFF63-A921-54C1-9F4E-6ECDB4EDEC7B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BE5977-7214-CB4E-3B2B-FF4E46A0B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89" y="796470"/>
            <a:ext cx="7592909" cy="3898092"/>
          </a:xfrm>
          <a:prstGeom prst="rect">
            <a:avLst/>
          </a:prstGeom>
        </p:spPr>
      </p:pic>
      <p:sp>
        <p:nvSpPr>
          <p:cNvPr id="12" name="Text 24">
            <a:extLst>
              <a:ext uri="{FF2B5EF4-FFF2-40B4-BE49-F238E27FC236}">
                <a16:creationId xmlns:a16="http://schemas.microsoft.com/office/drawing/2014/main" id="{D8CC56A9-C49F-379B-4639-A54013726EEA}"/>
              </a:ext>
            </a:extLst>
          </p:cNvPr>
          <p:cNvSpPr/>
          <p:nvPr/>
        </p:nvSpPr>
        <p:spPr>
          <a:xfrm>
            <a:off x="535922" y="2005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C0FBDC-8EFF-2FF9-7007-289CE4252A10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>
            <a:extLst>
              <a:ext uri="{FF2B5EF4-FFF2-40B4-BE49-F238E27FC236}">
                <a16:creationId xmlns:a16="http://schemas.microsoft.com/office/drawing/2014/main" id="{5FD18E39-A8DF-8F45-B287-BA16B5041A2E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攻击日志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按类型 / 动作 / IP / 关键词 / 时间窗多维检索，攻击载荷与命中规则全量留痕</a:t>
            </a:r>
            <a:endParaRPr lang="en-US" sz="105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223D568-11F9-620F-B084-C01BD7517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57" y="767964"/>
            <a:ext cx="7700486" cy="3905636"/>
          </a:xfrm>
          <a:prstGeom prst="rect">
            <a:avLst/>
          </a:prstGeom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E2D6599A-A286-FE25-FC6F-C87A3FD944AB}"/>
              </a:ext>
            </a:extLst>
          </p:cNvPr>
          <p:cNvSpPr/>
          <p:nvPr/>
        </p:nvSpPr>
        <p:spPr>
          <a:xfrm>
            <a:off x="535922" y="2005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D856D4-BC29-785B-8201-02350C906EBE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3">
            <a:extLst>
              <a:ext uri="{FF2B5EF4-FFF2-40B4-BE49-F238E27FC236}">
                <a16:creationId xmlns:a16="http://schemas.microsoft.com/office/drawing/2014/main" id="{D6081AD7-0126-62A5-8ED9-9F51E849FBAE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站点管理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多站点接入：域名 · 后端 · 状态一览，在线新增 / 更新 / 删除站点配置</a:t>
            </a:r>
            <a:endParaRPr lang="en-US" sz="105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6B49E38-5C5E-592C-B180-7DBFCEF52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40" y="839483"/>
            <a:ext cx="7575765" cy="147323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F74C012-5484-60FD-287D-8C33FDE50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37" y="2774647"/>
            <a:ext cx="7658685" cy="1476544"/>
          </a:xfrm>
          <a:prstGeom prst="rect">
            <a:avLst/>
          </a:prstGeom>
        </p:spPr>
      </p:pic>
      <p:sp>
        <p:nvSpPr>
          <p:cNvPr id="15" name="Text 24">
            <a:extLst>
              <a:ext uri="{FF2B5EF4-FFF2-40B4-BE49-F238E27FC236}">
                <a16:creationId xmlns:a16="http://schemas.microsoft.com/office/drawing/2014/main" id="{1AFE907D-B7E7-0E7D-24EF-05CAD91EB2B8}"/>
              </a:ext>
            </a:extLst>
          </p:cNvPr>
          <p:cNvSpPr/>
          <p:nvPr/>
        </p:nvSpPr>
        <p:spPr>
          <a:xfrm>
            <a:off x="535922" y="2005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EFDEC2-357E-6D58-A6F6-EA8479A19039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>
            <a:extLst>
              <a:ext uri="{FF2B5EF4-FFF2-40B4-BE49-F238E27FC236}">
                <a16:creationId xmlns:a16="http://schemas.microsoft.com/office/drawing/2014/main" id="{192D6B2A-DF8A-1D57-E12C-05ED08D443ED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证书管理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证书上传 / 一键续期（Let's Encrypt acme 自动化）/ 自签名证书生成</a:t>
            </a:r>
            <a:endParaRPr lang="en-US" sz="105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0A3823-68CB-2A45-B5BC-7C569AECC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78" y="791337"/>
            <a:ext cx="7700596" cy="3875555"/>
          </a:xfrm>
          <a:prstGeom prst="rect">
            <a:avLst/>
          </a:prstGeom>
        </p:spPr>
      </p:pic>
      <p:sp>
        <p:nvSpPr>
          <p:cNvPr id="6" name="Text 24">
            <a:extLst>
              <a:ext uri="{FF2B5EF4-FFF2-40B4-BE49-F238E27FC236}">
                <a16:creationId xmlns:a16="http://schemas.microsoft.com/office/drawing/2014/main" id="{3CE1D9A7-9549-8C0F-F691-87180747A1AE}"/>
              </a:ext>
            </a:extLst>
          </p:cNvPr>
          <p:cNvSpPr/>
          <p:nvPr/>
        </p:nvSpPr>
        <p:spPr>
          <a:xfrm>
            <a:off x="535922" y="2005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A7881F-3F29-C083-EB6F-25B005B6F440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规则文件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1,087 条检测规则分文件管理：SQL 注入 297 / 命令注入 403 / SSRF 181 等</a:t>
            </a:r>
            <a:endParaRPr lang="en-US" sz="1050" dirty="0"/>
          </a:p>
        </p:txBody>
      </p:sp>
      <p:sp>
        <p:nvSpPr>
          <p:cNvPr id="11" name="Text 24">
            <a:extLst>
              <a:ext uri="{FF2B5EF4-FFF2-40B4-BE49-F238E27FC236}">
                <a16:creationId xmlns:a16="http://schemas.microsoft.com/office/drawing/2014/main" id="{104E06F1-A052-0677-58BA-4F7CC466E7E3}"/>
              </a:ext>
            </a:extLst>
          </p:cNvPr>
          <p:cNvSpPr/>
          <p:nvPr/>
        </p:nvSpPr>
        <p:spPr>
          <a:xfrm>
            <a:off x="535922" y="2005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C233DFE-00BB-FE9C-8A59-A8C9EEB71036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81E9E3-DFFC-2537-ABCB-4A128BAE0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08" y="862308"/>
            <a:ext cx="7638832" cy="161907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9AFAB32-9DB0-AAC3-6541-6BCC82B8EE6D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">
            <a:extLst>
              <a:ext uri="{FF2B5EF4-FFF2-40B4-BE49-F238E27FC236}">
                <a16:creationId xmlns:a16="http://schemas.microsoft.com/office/drawing/2014/main" id="{AFAFF615-C044-F324-C7D4-6F0007D82E02}"/>
              </a:ext>
            </a:extLst>
          </p:cNvPr>
          <p:cNvSpPr/>
          <p:nvPr/>
        </p:nvSpPr>
        <p:spPr>
          <a:xfrm>
            <a:off x="658368" y="731388"/>
            <a:ext cx="7801786" cy="3981736"/>
          </a:xfrm>
          <a:prstGeom prst="roundRect">
            <a:avLst>
              <a:gd name="adj" fmla="val 919"/>
            </a:avLst>
          </a:prstGeom>
          <a:solidFill>
            <a:srgbClr val="16283F"/>
          </a:solidFill>
          <a:ln w="12700">
            <a:solidFill>
              <a:srgbClr val="1C2F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274320"/>
            <a:ext cx="82296" cy="310896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端口配置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9520" y="283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1200" y="28800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监听端口 / 后端 / 检测模式（rules · ai · auto）在线配置，重启即生效</a:t>
            </a:r>
            <a:endParaRPr lang="en-US" sz="105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FD60C67-14B1-ED2F-0BC4-8018B1BDB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05" y="862307"/>
            <a:ext cx="7683586" cy="3326739"/>
          </a:xfrm>
          <a:prstGeom prst="rect">
            <a:avLst/>
          </a:prstGeom>
        </p:spPr>
      </p:pic>
      <p:sp>
        <p:nvSpPr>
          <p:cNvPr id="11" name="Text 24">
            <a:extLst>
              <a:ext uri="{FF2B5EF4-FFF2-40B4-BE49-F238E27FC236}">
                <a16:creationId xmlns:a16="http://schemas.microsoft.com/office/drawing/2014/main" id="{F7973835-28D3-0A10-250C-6B098A865DAE}"/>
              </a:ext>
            </a:extLst>
          </p:cNvPr>
          <p:cNvSpPr/>
          <p:nvPr/>
        </p:nvSpPr>
        <p:spPr>
          <a:xfrm>
            <a:off x="535922" y="20053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202B08-2977-F3C3-5B6E-44473F974061}"/>
              </a:ext>
            </a:extLst>
          </p:cNvPr>
          <p:cNvSpPr txBox="1"/>
          <p:nvPr/>
        </p:nvSpPr>
        <p:spPr>
          <a:xfrm>
            <a:off x="5624771" y="4823823"/>
            <a:ext cx="2646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err="1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r>
              <a:rPr lang="en-US" altLang="zh-CN" sz="80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qinplus.com bileiwaf.com</a:t>
            </a:r>
            <a:endParaRPr lang="zh-CN" alt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14" y="2926080"/>
            <a:ext cx="2194560" cy="2103120"/>
          </a:xfrm>
          <a:prstGeom prst="ellipse">
            <a:avLst/>
          </a:prstGeom>
          <a:solidFill>
            <a:srgbClr val="0E4D4A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17315" y="3488623"/>
            <a:ext cx="1404518" cy="1345997"/>
          </a:xfrm>
          <a:prstGeom prst="ellipse">
            <a:avLst/>
          </a:prstGeom>
          <a:solidFill>
            <a:srgbClr val="0E4D4A">
              <a:alpha val="2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766560" y="228600"/>
            <a:ext cx="2103120" cy="2011680"/>
          </a:xfrm>
          <a:prstGeom prst="ellipse">
            <a:avLst/>
          </a:prstGeom>
          <a:solidFill>
            <a:srgbClr val="1B3A6B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68642" y="314097"/>
            <a:ext cx="1345997" cy="1287475"/>
          </a:xfrm>
          <a:prstGeom prst="ellipse">
            <a:avLst/>
          </a:prstGeom>
          <a:solidFill>
            <a:srgbClr val="1B3A6B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600" b="1" kern="0" spc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kern="0" spc="200" dirty="0">
                <a:solidFill>
                  <a:srgbClr val="35E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开源赋能行业创新 · 方案驱动场景落地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8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壁垒WAF BILEI WAF — 反代代理架构 · 规则 + AI 双通道检测 · </a:t>
            </a:r>
            <a:r>
              <a:rPr lang="en-US" sz="1200" dirty="0" err="1">
                <a:solidFill>
                  <a:srgbClr val="D8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全流量可视化</a:t>
            </a:r>
            <a:endParaRPr lang="en-US" sz="1200" dirty="0">
              <a:solidFill>
                <a:srgbClr val="D8E4F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zh-CN" altLang="en-US" sz="1200" dirty="0"/>
              <a:t>壁垒防火墙官网： </a:t>
            </a:r>
            <a:r>
              <a:rPr lang="en-US" altLang="zh-CN" sz="1200" dirty="0"/>
              <a:t>bileiwaf.com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 · 2026 </a:t>
            </a:r>
            <a:r>
              <a:rPr lang="zh-CN" altLang="en-US" sz="11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r>
              <a:rPr lang="en-US" altLang="zh-CN" sz="11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zh-CN" altLang="en-US" sz="11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96EBC-EE00-FF18-0B63-A7C8D9F76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55315A-6C7A-7218-6934-E0BE0863B833}"/>
              </a:ext>
            </a:extLst>
          </p:cNvPr>
          <p:cNvSpPr/>
          <p:nvPr/>
        </p:nvSpPr>
        <p:spPr>
          <a:xfrm>
            <a:off x="47414" y="2926080"/>
            <a:ext cx="2194560" cy="2103120"/>
          </a:xfrm>
          <a:prstGeom prst="ellipse">
            <a:avLst/>
          </a:prstGeom>
          <a:solidFill>
            <a:srgbClr val="0E4D4A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8ADFBC-DEE1-EC59-AB2C-A1A9433D9EBF}"/>
              </a:ext>
            </a:extLst>
          </p:cNvPr>
          <p:cNvSpPr/>
          <p:nvPr/>
        </p:nvSpPr>
        <p:spPr>
          <a:xfrm>
            <a:off x="117315" y="3488623"/>
            <a:ext cx="1404518" cy="1345997"/>
          </a:xfrm>
          <a:prstGeom prst="ellipse">
            <a:avLst/>
          </a:prstGeom>
          <a:solidFill>
            <a:srgbClr val="0E4D4A">
              <a:alpha val="2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D8E4FFB-C13B-E7A3-F2EA-9C50569F0AC2}"/>
              </a:ext>
            </a:extLst>
          </p:cNvPr>
          <p:cNvSpPr/>
          <p:nvPr/>
        </p:nvSpPr>
        <p:spPr>
          <a:xfrm>
            <a:off x="6766560" y="228600"/>
            <a:ext cx="2103120" cy="2011680"/>
          </a:xfrm>
          <a:prstGeom prst="ellipse">
            <a:avLst/>
          </a:prstGeom>
          <a:solidFill>
            <a:srgbClr val="1B3A6B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613B80-1953-9986-5D1C-32229F62DFAB}"/>
              </a:ext>
            </a:extLst>
          </p:cNvPr>
          <p:cNvSpPr/>
          <p:nvPr/>
        </p:nvSpPr>
        <p:spPr>
          <a:xfrm>
            <a:off x="7368642" y="314097"/>
            <a:ext cx="1345997" cy="1287475"/>
          </a:xfrm>
          <a:prstGeom prst="ellipse">
            <a:avLst/>
          </a:prstGeom>
          <a:solidFill>
            <a:srgbClr val="1B3A6B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F0D2D7-B1BB-A1E5-517D-153AA3FAC99B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5E0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97EE15-1936-A33F-8182-DA7AC93771B2}"/>
              </a:ext>
            </a:extLst>
          </p:cNvPr>
          <p:cNvSpPr/>
          <p:nvPr/>
        </p:nvSpPr>
        <p:spPr>
          <a:xfrm>
            <a:off x="731520" y="141732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600" b="1" kern="0" spc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E8FAA7-B96A-F10C-9CA5-4C763C678C06}"/>
              </a:ext>
            </a:extLst>
          </p:cNvPr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b="1" dirty="0"/>
              <a:t>2026 </a:t>
            </a:r>
            <a:r>
              <a:rPr lang="zh-CN" altLang="en-US" b="1" dirty="0"/>
              <a:t>开源行业解决方案创新赛 组委会</a:t>
            </a:r>
            <a:endParaRPr lang="en-US" altLang="zh-CN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8837F29-44A6-9C6A-25D9-74B49AC91000}"/>
              </a:ext>
            </a:extLst>
          </p:cNvPr>
          <p:cNvSpPr/>
          <p:nvPr/>
        </p:nvSpPr>
        <p:spPr>
          <a:xfrm>
            <a:off x="731520" y="397764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D8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5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447A5B-5F58-7B7B-1841-3DFE0F4BA4DD}"/>
              </a:ext>
            </a:extLst>
          </p:cNvPr>
          <p:cNvSpPr txBox="1"/>
          <p:nvPr/>
        </p:nvSpPr>
        <p:spPr>
          <a:xfrm>
            <a:off x="4071815" y="186787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致谢</a:t>
            </a:r>
          </a:p>
        </p:txBody>
      </p:sp>
    </p:spTree>
    <p:extLst>
      <p:ext uri="{BB962C8B-B14F-4D97-AF65-F5344CB8AC3E}">
        <p14:creationId xmlns:p14="http://schemas.microsoft.com/office/powerpoint/2010/main" val="20897313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1F2137B51EA4DBB098D91800E95C02D1B227770BFEA145A667CA5112382113D9" val="[{&quot;GradientColorId&quot;:&quot;&quot;,&quot;IsFree&quot;:true,&quot;IsGradient&quot;:false,&quot;ImagePath&quot;:&quot;&quot;,&quot;GradientColor&quot;:null,&quot;SimpleColor&quot;:&quot;#ED7D31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1590</Words>
  <Application>Microsoft Office PowerPoint</Application>
  <PresentationFormat>全屏显示(16:9)</PresentationFormat>
  <Paragraphs>237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xg w</cp:lastModifiedBy>
  <cp:revision>13</cp:revision>
  <dcterms:created xsi:type="dcterms:W3CDTF">2026-10-20T11:53:37Z</dcterms:created>
  <dcterms:modified xsi:type="dcterms:W3CDTF">2026-10-23T02:44:36Z</dcterms:modified>
</cp:coreProperties>
</file>